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png" ContentType="image/png"/>
  <Default Extension="jpg" ContentType="image/jpeg"/>
  <Override PartName="/docProps/app.xml" ContentType="application/vnd.openxmlformats-officedocument.extended-properties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43"/>
    <p:restoredTop autoAdjust="0" sz="94694"/>
  </p:normalViewPr>
  <p:slideViewPr>
    <p:cSldViewPr snapToGrid="0" snapToObjects="1">
      <p:cViewPr varScale="1">
        <p:scale>
          <a:sx d="100" n="161"/>
          <a:sy d="100" n="161"/>
        </p:scale>
        <p:origin x="560" y="200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5" Type="http://schemas.openxmlformats.org/officeDocument/2006/relationships/slide" Target="slides/slide4.xml" /><Relationship Id="rId6" Type="http://schemas.openxmlformats.org/officeDocument/2006/relationships/slide" Target="slides/slide5.xml" /><Relationship Id="rId7" Type="http://schemas.openxmlformats.org/officeDocument/2006/relationships/slide" Target="slides/slide6.xml" /><Relationship Id="rId8" Type="http://schemas.openxmlformats.org/officeDocument/2006/relationships/slide" Target="slides/slide7.xml" /><Relationship Id="rId9" Type="http://schemas.openxmlformats.org/officeDocument/2006/relationships/slide" Target="slides/slide8.xml" /><Relationship Id="rId10" Type="http://schemas.openxmlformats.org/officeDocument/2006/relationships/slide" Target="slides/slide9.xml" /><Relationship Id="rId11" Type="http://schemas.openxmlformats.org/officeDocument/2006/relationships/slide" Target="slides/slide10.xml" /><Relationship Id="rId12" Type="http://schemas.openxmlformats.org/officeDocument/2006/relationships/slide" Target="slides/slide11.xml" /><Relationship Id="rId13" Type="http://schemas.openxmlformats.org/officeDocument/2006/relationships/slide" Target="slides/slide12.xml" /><Relationship Id="rId14" Type="http://schemas.openxmlformats.org/officeDocument/2006/relationships/slide" Target="slides/slide13.xml" /><Relationship Id="rId15" Type="http://schemas.openxmlformats.org/officeDocument/2006/relationships/slide" Target="slides/slide14.xml" /><Relationship Id="rId16" Type="http://schemas.openxmlformats.org/officeDocument/2006/relationships/slide" Target="slides/slide15.xml" /><Relationship Id="rId17" Type="http://schemas.openxmlformats.org/officeDocument/2006/relationships/slide" Target="slides/slide16.xml" /><Relationship Id="rId18" Type="http://schemas.openxmlformats.org/officeDocument/2006/relationships/slide" Target="slides/slide17.xml" /><Relationship Id="rId19" Type="http://schemas.openxmlformats.org/officeDocument/2006/relationships/slide" Target="slides/slide18.xml" /><Relationship Id="rId20" Type="http://schemas.openxmlformats.org/officeDocument/2006/relationships/slide" Target="slides/slide19.xml" /><Relationship Id="rId21" Type="http://schemas.openxmlformats.org/officeDocument/2006/relationships/slide" Target="slides/slide20.xml" /><Relationship Id="rId23" Type="http://schemas.openxmlformats.org/officeDocument/2006/relationships/viewProps" Target="viewProps.xml" /><Relationship Id="rId22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25" Type="http://schemas.openxmlformats.org/officeDocument/2006/relationships/tableStyles" Target="tableStyles.xml" /><Relationship Id="rId24" Type="http://schemas.openxmlformats.org/officeDocument/2006/relationships/theme" Target="theme/theme1.xml" 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2914650"/>
            <a:ext cx="6400800" cy="131445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 anchor="t"/>
          <a:lstStyle>
            <a:lvl1pPr algn="l">
              <a:defRPr sz="3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180035"/>
            <a:ext cx="7772400" cy="1125140"/>
          </a:xfrm>
        </p:spPr>
        <p:txBody>
          <a:bodyPr anchor="b"/>
          <a:lstStyle>
            <a:lvl1pPr marL="0" indent="0">
              <a:buNone/>
              <a:defRPr sz="15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51335"/>
            <a:ext cx="4040188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1631156"/>
            <a:ext cx="4040188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6" y="1151335"/>
            <a:ext cx="4041775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6" y="1631156"/>
            <a:ext cx="4041775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3008313" cy="871538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04788"/>
            <a:ext cx="5111750" cy="4389835"/>
          </a:xfrm>
        </p:spPr>
        <p:txBody>
          <a:bodyPr/>
          <a:lstStyle>
            <a:lvl1pPr>
              <a:defRPr sz="2400"/>
            </a:lvl1pPr>
            <a:lvl2pPr>
              <a:defRPr sz="2100"/>
            </a:lvl2pPr>
            <a:lvl3pPr>
              <a:defRPr sz="1800"/>
            </a:lvl3pPr>
            <a:lvl4pPr>
              <a:defRPr sz="1500"/>
            </a:lvl4pPr>
            <a:lvl5pPr>
              <a:defRPr sz="15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1" y="1076326"/>
            <a:ext cx="3008313" cy="351829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theme/theme1.xml" Type="http://schemas.openxmlformats.org/officeDocument/2006/relationships/theme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05979"/>
            <a:ext cx="8229600" cy="857250"/>
          </a:xfrm>
          <a:prstGeom prst="rect">
            <a:avLst/>
          </a:prstGeom>
        </p:spPr>
        <p:txBody>
          <a:bodyPr anchor="ctr" bIns="45720" lIns="91440" rIns="91440" rtlCol="0" tIns="45720" vert="horz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457200" y="1200151"/>
            <a:ext cx="8229600" cy="3394472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2" sz="half" type="dt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3" sz="quarter" type="ftr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ct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4" sz="quarter" type="sldNum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342900" eaLnBrk="1" hangingPunct="1" latinLnBrk="0" rtl="0">
        <a:spcBef>
          <a:spcPct val="0"/>
        </a:spcBef>
        <a:buNone/>
        <a:defRPr kern="1200" sz="33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algn="l" defTabSz="342900" eaLnBrk="1" hangingPunct="1" indent="-342900" latinLnBrk="0" marL="342900" rtl="0">
        <a:spcBef>
          <a:spcPct val="20000"/>
        </a:spcBef>
        <a:buFont typeface="Arial"/>
        <a:buChar char="•"/>
        <a:defRPr kern="1200" sz="240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indent="-342900" latinLnBrk="0" marL="685800" rtl="0">
        <a:spcBef>
          <a:spcPct val="20000"/>
        </a:spcBef>
        <a:buFont typeface="Arial"/>
        <a:buChar char="–"/>
        <a:defRPr kern="1200" sz="210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indent="-342900" latinLnBrk="0" marL="1028700" rtl="0">
        <a:spcBef>
          <a:spcPct val="20000"/>
        </a:spcBef>
        <a:buFont typeface="Arial"/>
        <a:buChar char="•"/>
        <a:defRPr kern="1200" sz="180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indent="-342900" latinLnBrk="0" marL="1371600" rtl="0">
        <a:spcBef>
          <a:spcPct val="20000"/>
        </a:spcBef>
        <a:buFont typeface="Arial"/>
        <a:buChar char="–"/>
        <a:defRPr kern="1200" sz="150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indent="-342900" latinLnBrk="0" marL="1714500" rtl="0">
        <a:spcBef>
          <a:spcPct val="20000"/>
        </a:spcBef>
        <a:buFont typeface="Arial"/>
        <a:buChar char="»"/>
        <a:defRPr kern="1200" sz="150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image" Target="../media/image1.png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image" Target="../media/image2.jpg" 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hyperlink" Target="https://www.fredonoccitanie.com/jevi/2023/10/31/icu-chantier-de-plantation-participatif-demarche-citoyenne-a-marguerittes-gard/" TargetMode="External" /><Relationship Id="rId3" Type="http://schemas.openxmlformats.org/officeDocument/2006/relationships/hyperlink" Target="https://www.banyuls-sur-mer.com/vegetaliser-banyuls-cest-permis/" TargetMode="External" /><Relationship Id="rId4" Type="http://schemas.openxmlformats.org/officeDocument/2006/relationships/hyperlink" Target="https://www.saintnazairedaude.fr/amenager-notre-territoire/environnement/dispositif-permis-de-vegetaliser?utm_source=gemini" TargetMode="External" /></Relationships>
</file>

<file path=ppt/slides/_rels/slide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hyperlink" Target="https://www.les-caue-occitanie.fr/dossier-thematique/dossier-permis-de-vegetaliser-les-documents" TargetMode="External" /></Relationships>
</file>

<file path=ppt/slides/_rels/slide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image" Target="../media/image3.jpg" /></Relationships>
</file>

<file path=ppt/slides/_rels/slide1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hyperlink" Target="https://bertrand82.github.io/vegetalisation_m2q/convention.pdf" TargetMode="External" /></Relationships>
</file>

<file path=ppt/slides/_rels/slide1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image" Target="../media/image4.jpg" /></Relationships>
</file>

<file path=ppt/slides/_rels/slide1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image" Target="../media/image5.jpg" /></Relationships>
</file>

<file path=ppt/slides/_rels/slide2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Végétalisation de nos murs</a:t>
            </a:r>
          </a:p>
        </p:txBody>
      </p:sp>
      <p:pic>
        <p:nvPicPr>
          <p:cNvPr descr="images/rue_5_s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3581400" y="1193800"/>
            <a:ext cx="1981200" cy="28829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" name="TextBox 3"/>
          <p:cNvSpPr txBox="1"/>
          <p:nvPr>
            <p:ph idx="1"/>
          </p:nvPr>
        </p:nvSpPr>
        <p:spPr>
          <a:xfrm>
            <a:off x="457200" y="4076700"/>
            <a:ext cx="8229600" cy="508000"/>
          </a:xfrm>
          <a:prstGeom prst="rect">
            <a:avLst/>
          </a:prstGeom>
          <a:noFill/>
        </p:spPr>
        <p:txBody>
          <a:bodyPr/>
          <a:lstStyle/>
          <a:p>
            <a:pPr lvl="0" indent="0" marL="0" algn="ctr">
              <a:buNone/>
            </a:pPr>
            <a:r>
              <a:rPr/>
              <a:t>Avant / Après</a:t>
            </a:r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Pourquoi végétaliser ?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Adapter le village à la succession de canicules </a:t>
            </a:r>
          </a:p>
          <a:p>
            <a:pPr lvl="0"/>
            <a:r>
              <a:rPr/>
              <a:t>Réduire la température des façades de </a:t>
            </a:r>
            <a:r>
              <a:rPr b="1"/>
              <a:t>4 à 6 °C</a:t>
            </a:r>
            <a:r>
              <a:rPr/>
              <a:t>.</a:t>
            </a:r>
          </a:p>
          <a:p>
            <a:pPr lvl="0"/>
            <a:r>
              <a:rPr/>
              <a:t>Améliorer le confort d’été des riverains et des passants.</a:t>
            </a:r>
          </a:p>
          <a:p>
            <a:pPr lvl="0"/>
            <a:r>
              <a:rPr/>
              <a:t>Permettre aux riverains, sous le contrôle de la mairie, de planter sur les trottoirs: Il est normalement interdit de modifier le domaine public.</a:t>
            </a:r>
          </a:p>
          <a:p>
            <a:pPr lvl="0"/>
            <a:r>
              <a:rPr/>
              <a:t>Agir : ne plus subir son environnement.</a:t>
            </a:r>
          </a:p>
        </p:txBody>
      </p:sp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Comment végétaliser le village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b="1"/>
              <a:t>La mairie n’a pas les moyens d’entretenir des plantations en nombre</a:t>
            </a:r>
          </a:p>
          <a:p>
            <a:pPr lvl="0"/>
            <a:r>
              <a:rPr b="1"/>
              <a:t>Pour avoir des résultats rapides et massifs, il faut associer les habitants</a:t>
            </a:r>
          </a:p>
          <a:p>
            <a:pPr lvl="0"/>
            <a:r>
              <a:rPr i="1"/>
              <a:t>La commune crée des fosses de plantation sur le domaine public.</a:t>
            </a:r>
          </a:p>
          <a:p>
            <a:pPr lvl="0"/>
            <a:r>
              <a:rPr i="1"/>
              <a:t>Les habitants s’occupent des végétaux : arrosage, taille, soins.</a:t>
            </a:r>
          </a:p>
        </p:txBody>
      </p:sp>
    </p:spTree>
  </p:cSld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Avant / Après</a:t>
            </a:r>
          </a:p>
        </p:txBody>
      </p:sp>
      <p:pic>
        <p:nvPicPr>
          <p:cNvPr descr="images/rue_3_s.jp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3581400" y="1193800"/>
            <a:ext cx="1993900" cy="28829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" name="TextBox 3"/>
          <p:cNvSpPr txBox="1"/>
          <p:nvPr>
            <p:ph idx="1"/>
          </p:nvPr>
        </p:nvSpPr>
        <p:spPr>
          <a:xfrm>
            <a:off x="457200" y="4076700"/>
            <a:ext cx="8229600" cy="508000"/>
          </a:xfrm>
          <a:prstGeom prst="rect">
            <a:avLst/>
          </a:prstGeom>
          <a:noFill/>
        </p:spPr>
        <p:txBody>
          <a:bodyPr/>
          <a:lstStyle/>
          <a:p>
            <a:pPr lvl="0" indent="0" marL="0" algn="ctr">
              <a:buNone/>
            </a:pPr>
            <a:r>
              <a:rPr/>
              <a:t>Exemples de végétalisation dans les ruelles</a:t>
            </a:r>
          </a:p>
        </p:txBody>
      </p:sp>
    </p:spTree>
  </p:cSld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Un projet inspiré d’exemples réussis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Marguerittes (Gard) </a:t>
            </a:r>
            <a:r>
              <a:rPr>
                <a:hlinkClick r:id="rId2"/>
              </a:rPr>
              <a:t>(site)</a:t>
            </a:r>
          </a:p>
          <a:p>
            <a:pPr lvl="0"/>
            <a:r>
              <a:rPr/>
              <a:t>Végétaliser Banyuls, c’est permis ! </a:t>
            </a:r>
            <a:r>
              <a:rPr>
                <a:hlinkClick r:id="rId3"/>
              </a:rPr>
              <a:t>(site)</a:t>
            </a:r>
          </a:p>
          <a:p>
            <a:pPr lvl="0"/>
            <a:r>
              <a:rPr/>
              <a:t>Saint-Nazaire-d’Aude : La commune fournit un « Kit de plantation » complet (plante locale, paillage, terreau et tuteur de protection) dès que la fosse est créée par la mairie. </a:t>
            </a:r>
            <a:r>
              <a:rPr>
                <a:hlinkClick r:id="rId4"/>
              </a:rPr>
              <a:t>(site)</a:t>
            </a:r>
          </a:p>
        </p:txBody>
      </p:sp>
    </p:spTree>
  </p:cSld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Organismes officiels d’accompagnement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Le CAUE 82 (Conseil d’Architecture, d’Urbanisme et de l’Environnement) est un organisme investi d’une mission d’intérêt public.</a:t>
            </a:r>
          </a:p>
          <a:p>
            <a:pPr lvl="0"/>
            <a:r>
              <a:rPr/>
              <a:t>Il propose un certain nombre de ressources pour ce type de projet.</a:t>
            </a:r>
          </a:p>
          <a:p>
            <a:pPr lvl="0"/>
            <a:r>
              <a:rPr>
                <a:hlinkClick r:id="rId2"/>
              </a:rPr>
              <a:t>caue-occitanie :</a:t>
            </a:r>
            <a:r>
              <a:rPr/>
              <a:t> dossier permis de végétaliser</a:t>
            </a:r>
          </a:p>
        </p:txBody>
      </p:sp>
    </p:spTree>
  </p:cSld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Un partenariat simple entre la commune et les riverains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Un dispositif communal de végétalisation des façades</a:t>
            </a:r>
          </a:p>
          <a:p>
            <a:pPr lvl="0"/>
            <a:r>
              <a:rPr/>
              <a:t>Aide de la mairie pour la mise en place de fosses sur le domaine public.</a:t>
            </a:r>
          </a:p>
          <a:p>
            <a:pPr lvl="0"/>
            <a:r>
              <a:rPr/>
              <a:t>Conseil technique sur le choix de la plante.</a:t>
            </a:r>
          </a:p>
          <a:p>
            <a:pPr lvl="0"/>
            <a:r>
              <a:rPr/>
              <a:t>Éventuellement, fourniture du végétal à planter.</a:t>
            </a:r>
          </a:p>
          <a:p>
            <a:pPr lvl="0"/>
            <a:r>
              <a:rPr/>
              <a:t>Engagement écrit du riverain pour l’entretien, la taille et l’arrosage.</a:t>
            </a:r>
          </a:p>
        </p:txBody>
      </p:sp>
    </p:spTree>
  </p:cSld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Faire connaître le projet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Communication municipale</a:t>
            </a:r>
          </a:p>
          <a:p>
            <a:pPr lvl="0"/>
            <a:r>
              <a:rPr/>
              <a:t>Affichage en mairie, sur panneaux.</a:t>
            </a:r>
          </a:p>
          <a:p>
            <a:pPr lvl="0"/>
            <a:r>
              <a:rPr/>
              <a:t>Page dans IntraMuros</a:t>
            </a:r>
          </a:p>
          <a:p>
            <a:pPr lvl="0"/>
            <a:r>
              <a:rPr/>
              <a:t>Réunion publique de démarrage.</a:t>
            </a:r>
          </a:p>
          <a:p>
            <a:pPr lvl="0"/>
            <a:r>
              <a:rPr/>
              <a:t>Publication dans bulletin, avec convention à remplir en janvier.</a:t>
            </a:r>
          </a:p>
          <a:p>
            <a:pPr lvl="0"/>
            <a:r>
              <a:rPr/>
              <a:t>Premier bilan dans bulletin en juillet.</a:t>
            </a:r>
          </a:p>
        </p:txBody>
      </p:sp>
    </p:spTree>
  </p:cSld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Fosse de plantation pour pied de vigne en bordure de rue</a:t>
            </a:r>
          </a:p>
        </p:txBody>
      </p:sp>
      <p:pic>
        <p:nvPicPr>
          <p:cNvPr descr="images/fosse.jp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2654300" y="1193800"/>
            <a:ext cx="3835400" cy="28829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" name="TextBox 3"/>
          <p:cNvSpPr txBox="1"/>
          <p:nvPr>
            <p:ph idx="1"/>
          </p:nvPr>
        </p:nvSpPr>
        <p:spPr>
          <a:xfrm>
            <a:off x="457200" y="4076700"/>
            <a:ext cx="8229600" cy="508000"/>
          </a:xfrm>
          <a:prstGeom prst="rect">
            <a:avLst/>
          </a:prstGeom>
          <a:noFill/>
        </p:spPr>
        <p:txBody>
          <a:bodyPr/>
          <a:lstStyle/>
          <a:p>
            <a:pPr lvl="0" indent="0" marL="0" algn="ctr">
              <a:buNone/>
            </a:pPr>
            <a:r>
              <a:rPr/>
              <a:t>Fosse: réalisation</a:t>
            </a:r>
          </a:p>
        </p:txBody>
      </p:sp>
    </p:spTree>
  </p:cSld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Un parcours simple et rapide, compréhensible par tous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Le participant signe une convention (en ligne ou sur papier).</a:t>
            </a:r>
          </a:p>
          <a:p>
            <a:pPr lvl="0"/>
            <a:r>
              <a:rPr/>
              <a:t>Un rendez-vous est pris avec un représentant de la mairie : les positions des fosses sont marquées à la bombe sur le trottoir, en fonction des contraintes et du végétal visé.</a:t>
            </a:r>
          </a:p>
          <a:p>
            <a:pPr lvl="0"/>
            <a:r>
              <a:rPr/>
              <a:t>Les services municipaux mettent en place les fosses et plantent éventuellement les végétaux choisis.</a:t>
            </a:r>
          </a:p>
        </p:txBody>
      </p:sp>
    </p:spTree>
  </p:cSld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La « convention » avec les riverains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Une convention décrit formalisée et simple les engagements de la mairie et des riverains. </a:t>
            </a:r>
            <a:r>
              <a:rPr>
                <a:hlinkClick r:id="rId2"/>
              </a:rPr>
              <a:t>convention</a:t>
            </a:r>
          </a:p>
        </p:txBody>
      </p:sp>
    </p:spTree>
  </p:cSld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Développement de la végétation en pied de façade</a:t>
            </a:r>
          </a:p>
        </p:txBody>
      </p:sp>
      <p:pic>
        <p:nvPicPr>
          <p:cNvPr descr="images/fosse2.jp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3784600" y="1193800"/>
            <a:ext cx="1562100" cy="28829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" name="TextBox 3"/>
          <p:cNvSpPr txBox="1"/>
          <p:nvPr>
            <p:ph idx="1"/>
          </p:nvPr>
        </p:nvSpPr>
        <p:spPr>
          <a:xfrm>
            <a:off x="457200" y="4076700"/>
            <a:ext cx="8229600" cy="508000"/>
          </a:xfrm>
          <a:prstGeom prst="rect">
            <a:avLst/>
          </a:prstGeom>
          <a:noFill/>
        </p:spPr>
        <p:txBody>
          <a:bodyPr/>
          <a:lstStyle/>
          <a:p>
            <a:pPr lvl="0" indent="0" marL="0" algn="ctr">
              <a:buNone/>
            </a:pPr>
            <a:r>
              <a:rPr/>
              <a:t>fosse</a:t>
            </a:r>
          </a:p>
        </p:txBody>
      </p:sp>
    </p:spTree>
  </p:cSld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Risques juridiques et points de vigilance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Les travaux doivent être facilement réversibles</a:t>
            </a:r>
          </a:p>
          <a:p>
            <a:pPr lvl="0"/>
            <a:r>
              <a:rPr/>
              <a:t>Sécurité des piétons et de la circulation.</a:t>
            </a:r>
          </a:p>
          <a:p>
            <a:pPr lvl="0"/>
            <a:r>
              <a:rPr/>
              <a:t>Réseaux enterrés et contraintes techniques.</a:t>
            </a:r>
          </a:p>
          <a:p>
            <a:pPr lvl="0"/>
            <a:r>
              <a:rPr/>
              <a:t>Remplacement éventuel des végétaux.</a:t>
            </a:r>
          </a:p>
          <a:p>
            <a:pPr lvl="0"/>
            <a:r>
              <a:rPr/>
              <a:t>Risques de non-respect des engagements du riverain.</a:t>
            </a:r>
          </a:p>
        </p:txBody>
      </p:sp>
    </p:spTree>
  </p:cSld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Coût pris en charge par la mairie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Un investissement ciblé et maîtrisé</a:t>
            </a:r>
          </a:p>
          <a:p>
            <a:pPr lvl="0"/>
            <a:r>
              <a:rPr/>
              <a:t>La commune supporte le coût de la plantation.</a:t>
            </a:r>
          </a:p>
          <a:p>
            <a:pPr lvl="0"/>
            <a:r>
              <a:rPr/>
              <a:t>Le budget couvre la création des fosses et les petits travaux associés.</a:t>
            </a:r>
          </a:p>
          <a:p>
            <a:pPr lvl="0"/>
            <a:r>
              <a:rPr/>
              <a:t>Les habitants prennent en charge l’entretien (arrosage et taille).</a:t>
            </a:r>
          </a:p>
        </p:txBody>
      </p:sp>
    </p:spTree>
  </p:cSld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Suivi et évaluation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Mesurer simplement les résultats</a:t>
            </a:r>
          </a:p>
          <a:p>
            <a:pPr lvl="0"/>
            <a:r>
              <a:rPr/>
              <a:t>Nombre de volontaires.</a:t>
            </a:r>
          </a:p>
          <a:p>
            <a:pPr lvl="0"/>
            <a:r>
              <a:rPr/>
              <a:t>Nombre de fosses créées.</a:t>
            </a:r>
          </a:p>
          <a:p>
            <a:pPr lvl="0"/>
            <a:r>
              <a:rPr/>
              <a:t>Taux d’échec (pas d’entretien).</a:t>
            </a:r>
          </a:p>
          <a:p>
            <a:pPr lvl="0"/>
            <a:r>
              <a:rPr/>
              <a:t>Satisfaction des habitants.</a:t>
            </a:r>
          </a:p>
        </p:txBody>
      </p:sp>
    </p:spTree>
  </p:cSld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Ce que le conseil municipal doit approuver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Le principe du programme.</a:t>
            </a:r>
          </a:p>
          <a:p>
            <a:pPr lvl="0"/>
            <a:r>
              <a:rPr/>
              <a:t>La prise en charge par la mairie du coût des fosses.</a:t>
            </a:r>
          </a:p>
          <a:p>
            <a:pPr lvl="0"/>
            <a:r>
              <a:rPr/>
              <a:t>La convention qui sera proposée.</a:t>
            </a:r>
          </a:p>
          <a:p>
            <a:pPr lvl="0"/>
            <a:r>
              <a:rPr/>
              <a:t>L’achat de 100 pieds de jasmins et 100 pieds de chevrefeuille (10 Euros par pied).</a:t>
            </a:r>
          </a:p>
        </p:txBody>
      </p:sp>
    </p:spTree>
  </p:cSld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Planning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Pour viser un deploiement Printemps 2027</a:t>
            </a:r>
          </a:p>
          <a:p>
            <a:pPr lvl="0"/>
            <a:r>
              <a:rPr/>
              <a:t>Approbation par le conseil municipal : Octobre 2026</a:t>
            </a:r>
          </a:p>
          <a:p>
            <a:pPr lvl="0"/>
            <a:r>
              <a:rPr/>
              <a:t>Réunion public fin 2026</a:t>
            </a:r>
          </a:p>
          <a:p>
            <a:pPr lvl="0"/>
            <a:r>
              <a:rPr/>
              <a:t>Bulletin municipal : bouclage octobre 2026, parution Janvier 2027</a:t>
            </a:r>
          </a:p>
          <a:p>
            <a:pPr lvl="0"/>
            <a:r>
              <a:rPr/>
              <a:t>Mise en place des fosses : Hiver/Printemps 2027</a:t>
            </a:r>
          </a:p>
        </p:txBody>
      </p:sp>
    </p:spTree>
  </p:cSld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Conclusion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Un projet simple, utile et fédérateur</a:t>
            </a:r>
          </a:p>
          <a:p>
            <a:pPr lvl="0"/>
            <a:r>
              <a:rPr/>
              <a:t>Ce programme permet d’agir vite, à coût maîtrisé, avec les habitants, pour adapter le village aux canicules.</a:t>
            </a:r>
          </a:p>
          <a:p>
            <a:pPr lvl="0"/>
            <a:r>
              <a:rPr/>
              <a:t>Les vrais bénéfices apparaîtront 2 ou 3 ans après le lancement, le temps que les végétaux poussent.</a:t>
            </a:r>
          </a:p>
          <a:p>
            <a:pPr lvl="0"/>
            <a:r>
              <a:rPr/>
              <a:t>Un facteur clé de succès : Le portage et la mobilisation des élus.</a:t>
            </a:r>
          </a:p>
        </p:txBody>
      </p:sp>
    </p:spTree>
  </p:cSld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Avant / Après</a:t>
            </a:r>
          </a:p>
        </p:txBody>
      </p:sp>
      <p:pic>
        <p:nvPicPr>
          <p:cNvPr descr="images/rue_4_s.jp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2311400" y="1193800"/>
            <a:ext cx="4533900" cy="28829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" name="TextBox 3"/>
          <p:cNvSpPr txBox="1"/>
          <p:nvPr>
            <p:ph idx="1"/>
          </p:nvPr>
        </p:nvSpPr>
        <p:spPr>
          <a:xfrm>
            <a:off x="457200" y="4076700"/>
            <a:ext cx="8229600" cy="508000"/>
          </a:xfrm>
          <a:prstGeom prst="rect">
            <a:avLst/>
          </a:prstGeom>
          <a:noFill/>
        </p:spPr>
        <p:txBody>
          <a:bodyPr/>
          <a:lstStyle/>
          <a:p>
            <a:pPr lvl="0" indent="0" marL="0" algn="ctr">
              <a:buNone/>
            </a:pPr>
            <a:r>
              <a:rPr/>
              <a:t>Exemples de végétalisation</a:t>
            </a:r>
          </a:p>
        </p:txBody>
      </p:sp>
    </p:spTree>
  </p:cSld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 développer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Zone pavillonnaire : végétaliser les bords de route.</a:t>
            </a:r>
          </a:p>
          <a:p>
            <a:pPr lvl="0"/>
            <a:r>
              <a:rPr/>
              <a:t>Relations et contacts avec ABF et autres organismes officiels (CAUE 82).</a:t>
            </a:r>
          </a:p>
          <a:p>
            <a:pPr lvl="0"/>
            <a:r>
              <a:rPr/>
              <a:t>Aides au financement : “Le Fonds vert” (État) , “Ma Solution pour le Climat” (Région)</a:t>
            </a:r>
          </a:p>
        </p:txBody>
      </p:sp>
    </p:spTree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2</TotalTime>
  <Words>49</Words>
  <Application>Microsoft Macintosh PowerPoint</Application>
  <PresentationFormat>On-screen Show (16:9)</PresentationFormat>
  <Paragraphs>15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7" baseType="lpstr">
      <vt:lpstr>Arial</vt:lpstr>
      <vt:lpstr>Calibri</vt:lpstr>
      <vt:lpstr>Office Theme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/>
  <cp:keywords/>
  <dcterms:created xsi:type="dcterms:W3CDTF">2026-10-08T12:44:59Z</dcterms:created>
  <dcterms:modified xsi:type="dcterms:W3CDTF">2026-10-08T12:44:59Z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/>
</file>