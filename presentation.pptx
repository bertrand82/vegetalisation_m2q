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1" Type="http://schemas.openxmlformats.org/officeDocument/2006/relationships/viewProps" Target="viewProps.xml" /><Relationship Id="rId2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3" Type="http://schemas.openxmlformats.org/officeDocument/2006/relationships/tableStyles" Target="tableStyles.xml" /><Relationship Id="rId2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jpg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jp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jp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Végétalisation de Montpezat de Quercy</a:t>
            </a:r>
          </a:p>
        </p:txBody>
      </p:sp>
      <p:pic>
        <p:nvPicPr>
          <p:cNvPr descr="images/rue_0_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13000" y="1193800"/>
            <a:ext cx="43053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Rue Cariben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Objet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Végétaliser les façades de Montpezat :</a:t>
            </a:r>
            <a:br/>
            <a:r>
              <a:rPr b="1"/>
              <a:t>Un programme simple, visible et participatif pour adapter le village à la répétition des canicules</a:t>
            </a:r>
          </a:p>
          <a:p>
            <a:pPr lvl="0" indent="0" marL="0">
              <a:buNone/>
            </a:pPr>
            <a:r>
              <a:rPr i="1"/>
              <a:t>Programme communal d’aide à la création de fosses de plantation en pied de façade sur le domaine public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Pourquoi ce projet 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Répondre concrètement au changement climatique</a:t>
            </a:r>
          </a:p>
          <a:p>
            <a:pPr lvl="0"/>
            <a:r>
              <a:rPr/>
              <a:t>Réduire la température des façades de </a:t>
            </a:r>
            <a:r>
              <a:rPr b="1"/>
              <a:t>4 à 6 °C</a:t>
            </a:r>
            <a:r>
              <a:rPr/>
              <a:t>.</a:t>
            </a:r>
          </a:p>
          <a:p>
            <a:pPr lvl="0"/>
            <a:r>
              <a:rPr/>
              <a:t>Améliorer le confort d’été des riverains et des passants.</a:t>
            </a:r>
          </a:p>
          <a:p>
            <a:pPr lvl="0"/>
            <a:r>
              <a:rPr/>
              <a:t>Les riverains, sans accord de la mairie, ne peuvent pas planter sur les trottoirs.</a:t>
            </a:r>
          </a:p>
          <a:p>
            <a:pPr lvl="0"/>
            <a:r>
              <a:rPr/>
              <a:t>Une action concrète et comprise par tous.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 projet inspiré d’exemples réussis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Exemple : Lille – “Verdissons nos murs”</a:t>
            </a:r>
          </a:p>
          <a:p>
            <a:pPr lvl="0"/>
            <a:r>
              <a:rPr/>
              <a:t>Aide publique pour créer les conditions techniques.</a:t>
            </a:r>
          </a:p>
          <a:p>
            <a:pPr lvl="0"/>
            <a:r>
              <a:rPr/>
              <a:t>Participation active des riverains.</a:t>
            </a:r>
          </a:p>
          <a:p>
            <a:pPr lvl="0"/>
            <a:r>
              <a:rPr/>
              <a:t>Accompagnement sur les espèces adaptées.</a:t>
            </a:r>
          </a:p>
          <a:p>
            <a:pPr lvl="0"/>
            <a:r>
              <a:rPr/>
              <a:t>Logique simple, claire et mobilisatrice.</a:t>
            </a:r>
          </a:p>
          <a:p>
            <a:pPr lvl="0" indent="0" marL="0">
              <a:buNone/>
            </a:pPr>
            <a:r>
              <a:rPr b="1"/>
              <a:t>Enseignement principal :</a:t>
            </a:r>
          </a:p>
          <a:p>
            <a:pPr lvl="0" indent="0" marL="0">
              <a:buNone/>
            </a:pPr>
            <a:r>
              <a:rPr/>
              <a:t>Plus le dispositif est simple, plus il a de chances de réussir.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 programme proposé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Un dispositif communal de végétalisation des façades</a:t>
            </a:r>
          </a:p>
          <a:p>
            <a:pPr lvl="0"/>
            <a:r>
              <a:rPr/>
              <a:t>Aide de la mairie pour la mise en place de fosses sur le domaine public.</a:t>
            </a:r>
          </a:p>
          <a:p>
            <a:pPr lvl="0"/>
            <a:r>
              <a:rPr/>
              <a:t>Conseil technique sur le choix de la plante.</a:t>
            </a:r>
          </a:p>
          <a:p>
            <a:pPr lvl="0"/>
            <a:r>
              <a:rPr/>
              <a:t>Éventuellement, fourniture du végétal à planter.</a:t>
            </a:r>
          </a:p>
          <a:p>
            <a:pPr lvl="0"/>
            <a:r>
              <a:rPr/>
              <a:t>Engagement du riverain pour l’entretien, la taille et l’arrosage.</a:t>
            </a:r>
          </a:p>
          <a:p>
            <a:pPr lvl="0"/>
            <a:r>
              <a:rPr/>
              <a:t>Phase pilote avant évaluation puis éventuellement généralisation.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Phase pilote : 50 plantations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Évaluer la faisabilité</a:t>
            </a:r>
          </a:p>
          <a:p>
            <a:pPr lvl="0"/>
            <a:r>
              <a:rPr/>
              <a:t>Voir si les gens sont intéressés.</a:t>
            </a:r>
          </a:p>
          <a:p>
            <a:pPr lvl="0"/>
            <a:r>
              <a:rPr/>
              <a:t>Identifier les difficultés rencontrées.</a:t>
            </a:r>
          </a:p>
          <a:p>
            <a:pPr lvl="0"/>
            <a:r>
              <a:rPr/>
              <a:t>Évaluer les coûts.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 projet simple, compréhensible par tous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 principe du programme sera décrit dans le bulletin municipal, avec des contrats à remplir.</a:t>
            </a:r>
          </a:p>
          <a:p>
            <a:pPr lvl="0"/>
            <a:r>
              <a:rPr/>
              <a:t>Les habitants intéressés renvoient le contrat signé à la mairie.</a:t>
            </a:r>
          </a:p>
          <a:p>
            <a:pPr lvl="0"/>
            <a:r>
              <a:rPr/>
              <a:t>Un rendez-vous est pris avec un représentant de la mairie : la position de la fosse est marquée à la bombe sur le trottoir.</a:t>
            </a:r>
          </a:p>
          <a:p>
            <a:pPr lvl="0"/>
            <a:r>
              <a:rPr/>
              <a:t>Les services municipaux mettent en place la fosse et plantent éventuellement le végétal choisi.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 « contrat moral » avec les riverains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Un contrat entre la mairie et les bénéficiaires de cette offre, avec des tâches et engagements pour chacun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Tâches et engagements de la mairie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Évaluer la faisabilité (proximité des arrivées d’eau, gêne éventuelle à la circulation).</a:t>
            </a:r>
          </a:p>
          <a:p>
            <a:pPr lvl="0"/>
            <a:r>
              <a:rPr/>
              <a:t>Prendre en charge les travaux sur la voirie.</a:t>
            </a:r>
          </a:p>
          <a:p>
            <a:pPr lvl="0"/>
            <a:r>
              <a:rPr/>
              <a:t>Donner un appui technique sur le choix des végétaux.</a:t>
            </a:r>
          </a:p>
          <a:p>
            <a:pPr lvl="0"/>
            <a:r>
              <a:rPr/>
              <a:t>Éventuellement planter le végétal (s’il est en stock).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Tâches et engagements du riverain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Choisir des végétaux adaptés.</a:t>
            </a:r>
          </a:p>
          <a:p>
            <a:pPr lvl="0"/>
            <a:r>
              <a:rPr/>
              <a:t>Planter et entretenir les végétaux.</a:t>
            </a:r>
          </a:p>
          <a:p>
            <a:pPr lvl="0"/>
            <a:r>
              <a:rPr/>
              <a:t>Respecter les règles de sécurité et d’accessibilité.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Cas du locataire</a:t>
            </a:r>
          </a:p>
          <a:p>
            <a:pPr lvl="0"/>
            <a:r>
              <a:rPr/>
              <a:t>Accord du propriétaire nécessaire.</a:t>
            </a:r>
          </a:p>
          <a:p>
            <a:pPr lvl="0"/>
            <a:r>
              <a:rPr/>
              <a:t>Engagement du locataire sur l’entretien courant.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Risques juridiques et points de vigilance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Sécurité des piétons et de la circulation.</a:t>
            </a:r>
          </a:p>
          <a:p>
            <a:pPr lvl="0"/>
            <a:r>
              <a:rPr/>
              <a:t>Réseaux enterrés et contraintes techniques.</a:t>
            </a:r>
          </a:p>
          <a:p>
            <a:pPr lvl="0"/>
            <a:r>
              <a:rPr/>
              <a:t>Remplacement éventuel des végétaux.</a:t>
            </a:r>
          </a:p>
          <a:p>
            <a:pPr lvl="0"/>
            <a:r>
              <a:rPr/>
              <a:t>Risques de non-respect des engagements du riverain.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Coût pris en charge par la mairie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Un investissement ciblé et maîtrisé</a:t>
            </a:r>
          </a:p>
          <a:p>
            <a:pPr lvl="0"/>
            <a:r>
              <a:rPr/>
              <a:t>La commune supporte le coût de la plantation.</a:t>
            </a:r>
          </a:p>
          <a:p>
            <a:pPr lvl="0"/>
            <a:r>
              <a:rPr/>
              <a:t>Le budget couvre la création des fosses et les petits travaux associés.</a:t>
            </a:r>
          </a:p>
          <a:p>
            <a:pPr lvl="0"/>
            <a:r>
              <a:rPr/>
              <a:t>Les habitants prennent en charge l’entretien courant, il n’y a pas de coûts d’entretien.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Communication vers les habitants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Donner envie de participer</a:t>
            </a:r>
          </a:p>
          <a:p>
            <a:pPr lvl="0"/>
            <a:r>
              <a:rPr/>
              <a:t>Annonce dans le bulletin municipal et intramuros.</a:t>
            </a:r>
          </a:p>
          <a:p>
            <a:pPr lvl="0"/>
            <a:r>
              <a:rPr/>
              <a:t>Appel à volontaires.</a:t>
            </a:r>
          </a:p>
          <a:p>
            <a:pPr lvl="0"/>
            <a:r>
              <a:rPr/>
              <a:t>Contrat simple, disponible dans le bulletin municipal , à retourner à la mairie ou en ligne.</a:t>
            </a:r>
          </a:p>
          <a:p>
            <a:pPr lvl="0"/>
            <a:r>
              <a:rPr/>
              <a:t>Mise en avant des bénéfices pour le village.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Suivi et évaluation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Mesurer simplement les résultats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Indicateurs proposés</a:t>
            </a:r>
          </a:p>
          <a:p>
            <a:pPr lvl="0"/>
            <a:r>
              <a:rPr/>
              <a:t>Nombre de volontaires.</a:t>
            </a:r>
          </a:p>
          <a:p>
            <a:pPr lvl="0"/>
            <a:r>
              <a:rPr/>
              <a:t>Nombre de fosses créées.</a:t>
            </a:r>
          </a:p>
          <a:p>
            <a:pPr lvl="0"/>
            <a:r>
              <a:rPr/>
              <a:t>Taux d’échec (pas d’entretien).</a:t>
            </a:r>
          </a:p>
          <a:p>
            <a:pPr lvl="0"/>
            <a:r>
              <a:rPr/>
              <a:t>Satisfaction des habitants.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Ce que le conseil municipal doit approuver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 principe du programme.</a:t>
            </a:r>
          </a:p>
          <a:p>
            <a:pPr lvl="0"/>
            <a:r>
              <a:rPr/>
              <a:t>La phase pilote avec l’objectif de </a:t>
            </a:r>
            <a:r>
              <a:rPr b="1"/>
              <a:t>50 plantations</a:t>
            </a:r>
            <a:r>
              <a:rPr/>
              <a:t>.</a:t>
            </a:r>
          </a:p>
          <a:p>
            <a:pPr lvl="0"/>
            <a:r>
              <a:rPr/>
              <a:t>La prise en charge par la mairie du coût des fosses et de certains végétaux.</a:t>
            </a:r>
          </a:p>
          <a:p>
            <a:pPr lvl="0"/>
            <a:r>
              <a:rPr/>
              <a:t>Le cadre du contrat moral ou de la convention.</a:t>
            </a:r>
          </a:p>
          <a:p>
            <a:pPr lvl="0"/>
            <a:r>
              <a:rPr/>
              <a:t>Le calendrier de suivi.</a:t>
            </a:r>
          </a:p>
          <a:p>
            <a:pPr lvl="0"/>
            <a:r>
              <a:rPr/>
              <a:t>L’ouverture de l’appel à volontaires.</a:t>
            </a:r>
          </a:p>
          <a:p>
            <a:pPr lvl="0"/>
            <a:r>
              <a:rPr/>
              <a:t>L’inscription du dispositif dans la politique locale de transition écologique.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Un projet simple, utile et fédérateur</a:t>
            </a:r>
          </a:p>
          <a:p>
            <a:pPr lvl="0"/>
            <a:r>
              <a:rPr/>
              <a:t>Ce programme permet d’agir vite, à coût maîtrisé, avec les habitants, pour adapter le village aux canicules.</a:t>
            </a:r>
          </a:p>
          <a:p>
            <a:pPr lvl="0"/>
            <a:r>
              <a:rPr/>
              <a:t>Les vrais bénéfices apparaîtront 2 ou 3 ans après le lancement, le temps que les végétaux poussent.</a:t>
            </a:r>
          </a:p>
          <a:p>
            <a:pPr lvl="0"/>
            <a:r>
              <a:rPr/>
              <a:t>Hors projet : végétalisation des bâtiments publics, de l’école, de la place de la mairie.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images</a:t>
            </a:r>
          </a:p>
        </p:txBody>
      </p:sp>
      <p:pic>
        <p:nvPicPr>
          <p:cNvPr descr="images/rue_1_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36800" y="1193800"/>
            <a:ext cx="4470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Rue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images</a:t>
            </a:r>
          </a:p>
        </p:txBody>
      </p:sp>
      <p:pic>
        <p:nvPicPr>
          <p:cNvPr descr="images/rue_2_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49500" y="1193800"/>
            <a:ext cx="44577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Rue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2026-09-15T00:00:06Z</dcterms:created>
  <dcterms:modified xsi:type="dcterms:W3CDTF">2026-09-15T00:00:06Z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