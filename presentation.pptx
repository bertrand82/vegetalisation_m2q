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3" Type="http://schemas.openxmlformats.org/officeDocument/2006/relationships/viewProps" Target="viewProps.xml" /><Relationship Id="rId2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5" Type="http://schemas.openxmlformats.org/officeDocument/2006/relationships/tableStyles" Target="tableStyles.xml" /><Relationship Id="rId2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jp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fredonoccitanie.com/jevi/2023/10/31/icu-chantier-de-plantation-participatif-demarche-citoyenne-a-marguerittes-gard/" TargetMode="External" /><Relationship Id="rId3" Type="http://schemas.openxmlformats.org/officeDocument/2006/relationships/hyperlink" Target="https://www.banyuls-sur-mer.com/vegetaliser-banyuls-cest-permis/" TargetMode="External" /><Relationship Id="rId4" Type="http://schemas.openxmlformats.org/officeDocument/2006/relationships/hyperlink" Target="https://www.saintnazairedaude.fr/amenager-notre-territoire/environnement/dispositif-permis-de-vegetaliser?utm_source=gemini" TargetMode="Externa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les-caue-occitanie.fr/dossier-thematique/dossier-permis-de-vegetaliser-les-documents" TargetMode="Externa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jp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bertrand82.github.io/vegetalisation_m2q/convention.pdf" TargetMode="Externa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jp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jp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Végétalisation de nos murs</a:t>
            </a:r>
          </a:p>
        </p:txBody>
      </p:sp>
      <p:pic>
        <p:nvPicPr>
          <p:cNvPr descr="images/rue_5_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81400" y="1193800"/>
            <a:ext cx="19812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Avant / Après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Pourquoi végétaliser 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Adapter le village à la succession de canicules </a:t>
            </a:r>
          </a:p>
          <a:p>
            <a:pPr lvl="0"/>
            <a:r>
              <a:rPr/>
              <a:t>Réduire la température des façades de </a:t>
            </a:r>
            <a:r>
              <a:rPr b="1"/>
              <a:t>4 à 6 °C</a:t>
            </a:r>
            <a:r>
              <a:rPr/>
              <a:t>.</a:t>
            </a:r>
          </a:p>
          <a:p>
            <a:pPr lvl="0"/>
            <a:r>
              <a:rPr/>
              <a:t>Améliorer le confort d’été des riverains et des passants.</a:t>
            </a:r>
          </a:p>
          <a:p>
            <a:pPr lvl="0"/>
            <a:r>
              <a:rPr/>
              <a:t>Permettre aux riverains, sous le contrôle de la mairie, de planter sur les trottoirs: Il est normalement interdit de modifier le domaine public.</a:t>
            </a:r>
          </a:p>
          <a:p>
            <a:pPr lvl="0"/>
            <a:r>
              <a:rPr/>
              <a:t>Agir : ne plus subir son environnement.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Comment végétaliser le village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La mairie n’a pas les moyens d’entretenir des plantations en nombre</a:t>
            </a:r>
          </a:p>
          <a:p>
            <a:pPr lvl="0"/>
            <a:r>
              <a:rPr b="1"/>
              <a:t>Pour avoir des résultats rapides et massifs, il faut associer les habitants</a:t>
            </a:r>
          </a:p>
          <a:p>
            <a:pPr lvl="0"/>
            <a:r>
              <a:rPr i="1"/>
              <a:t>La commune crée des fosses de plantation sur le domaine public.</a:t>
            </a:r>
          </a:p>
          <a:p>
            <a:pPr lvl="0"/>
            <a:r>
              <a:rPr i="1"/>
              <a:t>Les habitants s’occupent des végétaux : arrosage, taille, soins.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Avant / Après</a:t>
            </a:r>
          </a:p>
        </p:txBody>
      </p:sp>
      <p:pic>
        <p:nvPicPr>
          <p:cNvPr descr="images/rue_3_s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81400" y="1193800"/>
            <a:ext cx="19939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Exemples de végétalisation dans les ruelles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Un projet inspiré d’exemples réussis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Marguerittes (Gard) </a:t>
            </a:r>
            <a:r>
              <a:rPr>
                <a:hlinkClick r:id="rId2"/>
              </a:rPr>
              <a:t>(site)</a:t>
            </a:r>
          </a:p>
          <a:p>
            <a:pPr lvl="0"/>
            <a:r>
              <a:rPr/>
              <a:t>Végétaliser Banyuls, c’est permis ! </a:t>
            </a:r>
            <a:r>
              <a:rPr>
                <a:hlinkClick r:id="rId3"/>
              </a:rPr>
              <a:t>(site)</a:t>
            </a:r>
          </a:p>
          <a:p>
            <a:pPr lvl="0"/>
            <a:r>
              <a:rPr/>
              <a:t>Saint-Nazaire-d’Aude : La commune fournit un « Kit de plantation » complet (plante locale, paillage, terreau et tuteur de protection) dès que la fosse est créée par la mairie. </a:t>
            </a:r>
            <a:r>
              <a:rPr>
                <a:hlinkClick r:id="rId4"/>
              </a:rPr>
              <a:t>(site)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Organismes officiels d’accompagnement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Le CAUE 82 (Conseil d’Architecture, d’Urbanisme et de l’Environnement) est un organisme investi d’une mission d’intérêt public.</a:t>
            </a:r>
          </a:p>
          <a:p>
            <a:pPr lvl="0"/>
            <a:r>
              <a:rPr/>
              <a:t>Il propose un certain nombre de ressources pour ce type de projet.</a:t>
            </a:r>
          </a:p>
          <a:p>
            <a:pPr lvl="0"/>
            <a:r>
              <a:rPr>
                <a:hlinkClick r:id="rId2"/>
              </a:rPr>
              <a:t>caue-occitanie :</a:t>
            </a:r>
            <a:r>
              <a:rPr/>
              <a:t> dossier permis de végétaliser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Un partenariat simple entre la commune et les riverains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Un dispositif communal de végétalisation des façades</a:t>
            </a:r>
          </a:p>
          <a:p>
            <a:pPr lvl="0"/>
            <a:r>
              <a:rPr/>
              <a:t>Aide de la mairie pour la mise en place de fosses sur le domaine public.</a:t>
            </a:r>
          </a:p>
          <a:p>
            <a:pPr lvl="0"/>
            <a:r>
              <a:rPr/>
              <a:t>Conseil technique sur le choix de la plante.</a:t>
            </a:r>
          </a:p>
          <a:p>
            <a:pPr lvl="0"/>
            <a:r>
              <a:rPr/>
              <a:t>Éventuellement, fourniture du végétal à planter.</a:t>
            </a:r>
          </a:p>
          <a:p>
            <a:pPr lvl="0"/>
            <a:r>
              <a:rPr/>
              <a:t>Engagement écrit du riverain pour l’entretien, la taille et l’arrosage.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Faire connaître le projet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Communication municipale</a:t>
            </a:r>
          </a:p>
          <a:p>
            <a:pPr lvl="0"/>
            <a:r>
              <a:rPr/>
              <a:t>Affichage en mairie, sur panneaux.</a:t>
            </a:r>
          </a:p>
          <a:p>
            <a:pPr lvl="0"/>
            <a:r>
              <a:rPr/>
              <a:t>Page dans IntraMuros</a:t>
            </a:r>
          </a:p>
          <a:p>
            <a:pPr lvl="0"/>
            <a:r>
              <a:rPr/>
              <a:t>Réunion publique de démarrage.</a:t>
            </a:r>
          </a:p>
          <a:p>
            <a:pPr lvl="0"/>
            <a:r>
              <a:rPr/>
              <a:t>Publication dans bulletin, avec convention à remplir en janvier.</a:t>
            </a:r>
          </a:p>
          <a:p>
            <a:pPr lvl="0"/>
            <a:r>
              <a:rPr/>
              <a:t>Premier bilan dans bulletin en juillet.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Fosse de plantation pour pied de vigne en bordure de rue</a:t>
            </a:r>
          </a:p>
        </p:txBody>
      </p:sp>
      <p:pic>
        <p:nvPicPr>
          <p:cNvPr descr="images/fosse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654300" y="1193800"/>
            <a:ext cx="38354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Fosse: réalisation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Un parcours simple et rapide, compréhensible par tous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Le participant signe une convention (en ligne ou sur papier).</a:t>
            </a:r>
          </a:p>
          <a:p>
            <a:pPr lvl="0"/>
            <a:r>
              <a:rPr/>
              <a:t>Un rendez-vous est pris avec un représentant de la mairie : les positions des fosses sont marquées à la bombe sur le trottoir, en fonction des contraintes et du végétal visé.</a:t>
            </a:r>
          </a:p>
          <a:p>
            <a:pPr lvl="0"/>
            <a:r>
              <a:rPr/>
              <a:t>Les services municipaux mettent en place les fosses et plantent éventuellement les végétaux choisis.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 « convention » avec les riverains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Une convention décrit formalisée et simple les engagements de la mairie et des riverains. </a:t>
            </a:r>
            <a:r>
              <a:rPr>
                <a:hlinkClick r:id="rId2"/>
              </a:rPr>
              <a:t>convention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Développement de la végétation en pied de façade</a:t>
            </a:r>
          </a:p>
        </p:txBody>
      </p:sp>
      <p:pic>
        <p:nvPicPr>
          <p:cNvPr descr="images/fosse2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784600" y="1193800"/>
            <a:ext cx="15621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fosse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Risques juridiques et points de vigilance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Les travaux doivent être facilement réversibles</a:t>
            </a:r>
          </a:p>
          <a:p>
            <a:pPr lvl="0"/>
            <a:r>
              <a:rPr/>
              <a:t>Sécurité des piétons et de la circulation.</a:t>
            </a:r>
          </a:p>
          <a:p>
            <a:pPr lvl="0"/>
            <a:r>
              <a:rPr/>
              <a:t>Réseaux enterrés et contraintes techniques.</a:t>
            </a:r>
          </a:p>
          <a:p>
            <a:pPr lvl="0"/>
            <a:r>
              <a:rPr/>
              <a:t>Remplacement éventuel des végétaux.</a:t>
            </a:r>
          </a:p>
          <a:p>
            <a:pPr lvl="0"/>
            <a:r>
              <a:rPr/>
              <a:t>Risques de non-respect des engagements du riverain.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Coût pris en charge par la mairie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Un investissement ciblé et maîtrisé</a:t>
            </a:r>
          </a:p>
          <a:p>
            <a:pPr lvl="0"/>
            <a:r>
              <a:rPr/>
              <a:t>La commune supporte le coût de la plantation.</a:t>
            </a:r>
          </a:p>
          <a:p>
            <a:pPr lvl="0"/>
            <a:r>
              <a:rPr/>
              <a:t>Le budget couvre la création des fosses et les petits travaux associés.</a:t>
            </a:r>
          </a:p>
          <a:p>
            <a:pPr lvl="0"/>
            <a:r>
              <a:rPr/>
              <a:t>Les habitants prennent en charge l’entretien (arrosage et taille).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Suivi et évaluation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Mesurer simplement les résultats</a:t>
            </a:r>
          </a:p>
          <a:p>
            <a:pPr lvl="0"/>
            <a:r>
              <a:rPr/>
              <a:t>Nombre de volontaires.</a:t>
            </a:r>
          </a:p>
          <a:p>
            <a:pPr lvl="0"/>
            <a:r>
              <a:rPr/>
              <a:t>Nombre de fosses créées.</a:t>
            </a:r>
          </a:p>
          <a:p>
            <a:pPr lvl="0"/>
            <a:r>
              <a:rPr/>
              <a:t>Taux d’échec (pas d’entretien).</a:t>
            </a:r>
          </a:p>
          <a:p>
            <a:pPr lvl="0"/>
            <a:r>
              <a:rPr/>
              <a:t>Satisfaction des habitants.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Ce que le conseil municipal doit approuver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Le principe du programme.</a:t>
            </a:r>
          </a:p>
          <a:p>
            <a:pPr lvl="0"/>
            <a:r>
              <a:rPr/>
              <a:t>La prise en charge par la mairie du coût des fosses.</a:t>
            </a:r>
          </a:p>
          <a:p>
            <a:pPr lvl="0"/>
            <a:r>
              <a:rPr/>
              <a:t>La convention qui sera proposée.</a:t>
            </a:r>
          </a:p>
          <a:p>
            <a:pPr lvl="0"/>
            <a:r>
              <a:rPr/>
              <a:t>L’achat de 100 pieds de jasmins et 100 pieds de chevrefeuille (10 Euros par pied).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Planning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Pour viser un deploiement Printemps 2027</a:t>
            </a:r>
          </a:p>
          <a:p>
            <a:pPr lvl="0"/>
            <a:r>
              <a:rPr/>
              <a:t>Approbation par le conseil municipal : Octobre 2026</a:t>
            </a:r>
          </a:p>
          <a:p>
            <a:pPr lvl="0"/>
            <a:r>
              <a:rPr/>
              <a:t>Réunion public fin 2026</a:t>
            </a:r>
          </a:p>
          <a:p>
            <a:pPr lvl="0"/>
            <a:r>
              <a:rPr/>
              <a:t>Bulletin municipal : bouclage octobre 2026, parution Janvier 2027</a:t>
            </a:r>
          </a:p>
          <a:p>
            <a:pPr lvl="0"/>
            <a:r>
              <a:rPr/>
              <a:t>Mise en place des fosses : Hiver/Printemps 2027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Conclusion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Un projet simple, utile et fédérateur</a:t>
            </a:r>
          </a:p>
          <a:p>
            <a:pPr lvl="0"/>
            <a:r>
              <a:rPr/>
              <a:t>Ce programme permet d’agir vite, à coût maîtrisé, avec les habitants, pour adapter le village aux canicules.</a:t>
            </a:r>
          </a:p>
          <a:p>
            <a:pPr lvl="0"/>
            <a:r>
              <a:rPr/>
              <a:t>Les vrais bénéfices apparaîtront 2 ou 3 ans après le lancement, le temps que les végétaux poussent.</a:t>
            </a:r>
          </a:p>
          <a:p>
            <a:pPr lvl="0"/>
            <a:r>
              <a:rPr/>
              <a:t>Un facteur clé de succès : Le portage et la mobilisation des élus.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Avant / Après</a:t>
            </a:r>
          </a:p>
        </p:txBody>
      </p:sp>
      <p:pic>
        <p:nvPicPr>
          <p:cNvPr descr="images/rue_4_s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311400" y="1193800"/>
            <a:ext cx="45339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Exemples de végétalisation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développer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Zone pavillonnaire : végétaliser les bords de route.</a:t>
            </a:r>
          </a:p>
          <a:p>
            <a:pPr lvl="0"/>
            <a:r>
              <a:rPr/>
              <a:t>Relations et contacts avec ABF et autres organismes officiels (CAUE 82).</a:t>
            </a:r>
          </a:p>
          <a:p>
            <a:pPr lvl="0"/>
            <a:r>
              <a:rPr/>
              <a:t>Aides au financement : “Le Fonds vert” (État) , “Ma Solution pour le Climat” (Région)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2026-10-08T12:43:17Z</dcterms:created>
  <dcterms:modified xsi:type="dcterms:W3CDTF">2026-10-08T12:43:17Z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